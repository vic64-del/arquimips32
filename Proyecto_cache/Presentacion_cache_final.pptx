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5.svg" ContentType="image/svg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1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VE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Click to move the slide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5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ftr" idx="5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9F2BBBD-9ED0-49CE-B6BF-E121E46ACD52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V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33E7F5-6E37-422F-9D18-753835A83E61}" type="slidenum">
              <a:rPr lang="es-V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V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F26C73D-84BC-41FF-94F3-E25E7EF801F4}" type="slidenum">
              <a:rPr lang="es-V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s-V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C71020-D5A8-4811-A4C4-CDDC2BDCCCA7}" type="slidenum">
              <a:rPr lang="es-V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51040" y="609480"/>
            <a:ext cx="867600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457200">
              <a:lnSpc>
                <a:spcPct val="100000"/>
              </a:lnSpc>
              <a:buNone/>
              <a:def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</a:t>
            </a:r>
            <a:r>
              <a: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para </a:t>
            </a:r>
            <a:r>
              <a: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modificar el </a:t>
            </a:r>
            <a:r>
              <a: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estilo de </a:t>
            </a:r>
            <a:r>
              <a: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título del </a:t>
            </a:r>
            <a:r>
              <a:rPr lang="es-ES" sz="4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patrón</a:t>
            </a:r>
            <a:endParaRPr lang="es-VE" sz="48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997AB0-B423-41D3-9635-F19DE98DD947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panorámica con descrip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41560" y="4732920"/>
            <a:ext cx="9905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el estilo de título del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patrón</a:t>
            </a:r>
            <a:endParaRPr lang="es-VE" sz="24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979640" y="932040"/>
            <a:ext cx="8225640" cy="31647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tIns="45000" rIns="90000" bIns="45000" anchor="t">
            <a:norm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Haga clic en el icono para agregar una imagen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141560" y="5299560"/>
            <a:ext cx="99057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9A2990-6695-4A3F-8D38-BE5450789A3D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descrip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el estilo de título del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E1EB19-4655-4367-803B-BAA4A3766D79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con descrip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3"/>
          <p:cNvSpPr/>
          <p:nvPr/>
        </p:nvSpPr>
        <p:spPr>
          <a:xfrm>
            <a:off x="836640" y="7869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“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14"/>
          <p:cNvSpPr/>
          <p:nvPr/>
        </p:nvSpPr>
        <p:spPr>
          <a:xfrm>
            <a:off x="104378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”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29592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Hag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a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clic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par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a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mo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difi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car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el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esti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lo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de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títu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lo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del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patr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ón</a:t>
            </a:r>
            <a:endParaRPr lang="es-VE" sz="3200" b="0" u="none" strike="noStrike" cap="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74720" y="3352680"/>
            <a:ext cx="88387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5F00C-0AFE-40FB-8432-849C673C70F8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jeta de nomb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41560" y="3308760"/>
            <a:ext cx="99057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a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clic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par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a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mo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difi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car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el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esti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lo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de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títu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lo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del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patr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141560" y="4777560"/>
            <a:ext cx="9905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F7840-3C69-4EA3-BC5C-91DB43E77356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r la tarjeta de nomb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3"/>
          <p:cNvSpPr/>
          <p:nvPr/>
        </p:nvSpPr>
        <p:spPr>
          <a:xfrm>
            <a:off x="836640" y="7869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“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14"/>
          <p:cNvSpPr/>
          <p:nvPr/>
        </p:nvSpPr>
        <p:spPr>
          <a:xfrm>
            <a:off x="104378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”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29592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el estilo de título del </a:t>
            </a:r>
            <a:r>
              <a:rPr lang="es-ES" sz="32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patrón</a:t>
            </a:r>
            <a:endParaRPr lang="es-VE" sz="3200" b="0" u="none" strike="noStrike" cap="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141560" y="3886200"/>
            <a:ext cx="9905760" cy="88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-28584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n-US" sz="2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1141560" y="4775040"/>
            <a:ext cx="9905760" cy="101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n-US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42367A-CAED-4268-832C-F3347E39112F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dadero o fals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n-US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141560" y="3505320"/>
            <a:ext cx="990576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-28584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s-ES" sz="28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800" b="0" u="none" strike="noStrike" cap="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n-US" sz="2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n-US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9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1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47E618-27E5-498E-AC6A-B4285C3CC707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2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4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172C06-5E7B-498C-A0F1-2ECB87DC6719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836920" y="609480"/>
            <a:ext cx="221004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54344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5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7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C0022C-FD2B-48C5-B1C2-223A11974347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7E1C30-3627-4241-A640-67551F4B293C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51040" y="3308760"/>
            <a:ext cx="868644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ES" sz="40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s-ES" sz="40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40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51040" y="4777560"/>
            <a:ext cx="868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1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3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A7CB6-28DA-4C8D-B71A-7D613D9E3BA8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el estilo de título del </a:t>
            </a: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48765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170760" y="2666880"/>
            <a:ext cx="48765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4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6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BF5221-3787-42AD-B6A2-11E2AD804465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429200" y="2658600"/>
            <a:ext cx="45885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141560" y="3243240"/>
            <a:ext cx="4876560" cy="25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443280" y="2666880"/>
            <a:ext cx="46040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pos="0" algn="l"/>
              </a:tabLst>
              <a:defRPr lang="es-ES" sz="2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2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170760" y="3243240"/>
            <a:ext cx="4876560" cy="25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  <a:def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2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2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dt" idx="37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8"/>
          <p:cNvSpPr>
            <a:spLocks noGrp="1"/>
          </p:cNvSpPr>
          <p:nvPr>
            <p:ph type="sldNum" idx="39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86B21C-7EAA-4A6E-83D1-77B39A96E397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40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42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EE424A-855B-4B70-A642-6412D9049987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 idx="43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45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2B7E60-4082-402D-A863-418F61ACB51B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457200">
              <a:buNone/>
              <a:defRPr lang="es-VE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buNone/>
            </a:pPr>
            <a:r>
              <a:rPr lang="es-VE" sz="32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Click to edit the title text format</a:t>
            </a:r>
            <a:endParaRPr lang="es-VE" sz="32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VE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s-VE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s-VE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s-VE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s-VE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  <a:lvl6pPr lvl="5" algn="l" defTabSz="4572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VE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6pPr>
            <a:lvl7pPr lvl="6" algn="l" defTabSz="4572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VE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7pPr>
          </a:lstStyle>
          <a:p>
            <a:pPr marL="285840" indent="-285840" algn="l" defTabSz="457200"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VE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Click to edit the outline text format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VE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Second Outline Level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VE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Third Outline Level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VE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Fourth Outline Level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VE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Fifth Outline Level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VE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Sixth Outline Level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VE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Seventh Outline Level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141560" y="1600200"/>
            <a:ext cx="354888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457200">
              <a:lnSpc>
                <a:spcPct val="100000"/>
              </a:lnSpc>
              <a:buNone/>
              <a:def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clic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para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modi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ficar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el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estil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o de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títul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o del 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patró</a:t>
            </a:r>
            <a:r>
              <a:rPr lang="es-ES" sz="24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n</a:t>
            </a:r>
            <a:endParaRPr lang="es-VE" sz="24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103720" y="609480"/>
            <a:ext cx="594324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  <a:def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20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20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Segundo nivel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200240" lvl="2" indent="-28584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Tercer nivel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1542960" lvl="3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Cuarto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2000160" lvl="4" indent="-171360" algn="l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A9E023"/>
              </a:buClr>
              <a:buFont typeface="Arial"/>
              <a:buChar char="•"/>
            </a:pPr>
            <a:r>
              <a:rPr lang="es-ES" sz="14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Quinto nivel</a:t>
            </a:r>
            <a:endParaRPr lang="es-VE" sz="14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1141560" y="2971800"/>
            <a:ext cx="354888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6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46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48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385A6D-E0AB-42BD-8ED2-248412D1B9D5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41560" y="1600200"/>
            <a:ext cx="533376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s-ES" sz="2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ES" sz="2800" b="0" u="none" strike="noStrike" cap="all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VE" sz="2800" b="0" u="none" strike="noStrike" cap="all">
              <a:solidFill>
                <a:schemeClr val="accent1"/>
              </a:solidFill>
              <a:effectLst/>
              <a:uFillTx/>
              <a:latin typeface="Century Gothic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433640" y="-18360"/>
            <a:ext cx="3276360" cy="69033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tIns="45000" rIns="90000" bIns="45000" anchor="t">
            <a:norm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Haga clic en el icono para agregar una imagen</a:t>
            </a:r>
            <a:endParaRPr lang="es-VE" sz="16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1141560" y="2971800"/>
            <a:ext cx="533376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  <a:def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s-ES" sz="1800" b="0" u="none" strike="noStrike" cap="small">
                <a:solidFill>
                  <a:schemeClr val="lt1"/>
                </a:solidFill>
                <a:effectLst/>
                <a:uFillTx/>
                <a:latin typeface="Century Gothic"/>
              </a:rPr>
              <a:t>Haga clic para modificar el estilo de texto del patrón</a:t>
            </a:r>
            <a:endParaRPr lang="es-VE" sz="1800" b="0" u="none" strike="noStrike" cap="small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49"/>
          </p:nvPr>
        </p:nvSpPr>
        <p:spPr>
          <a:xfrm>
            <a:off x="6399360" y="5883120"/>
            <a:ext cx="914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51051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51"/>
          </p:nvPr>
        </p:nvSpPr>
        <p:spPr>
          <a:xfrm>
            <a:off x="10742760" y="5883120"/>
            <a:ext cx="322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9169C0-C49A-4437-9DA9-0000850B4531}" type="slidenum">
              <a:rPr lang="es-419" sz="900" b="1" u="none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lang="es-E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ángulo 13"/>
          <p:cNvSpPr/>
          <p:nvPr/>
        </p:nvSpPr>
        <p:spPr>
          <a:xfrm>
            <a:off x="363240" y="3250080"/>
            <a:ext cx="114436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Simul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ación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de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Cach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e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Asoci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ativa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de n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vías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con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mem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oria 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exter</a:t>
            </a: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na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ángulo 2"/>
          <p:cNvSpPr/>
          <p:nvPr/>
        </p:nvSpPr>
        <p:spPr>
          <a:xfrm>
            <a:off x="2323800" y="2727000"/>
            <a:ext cx="75438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VE" sz="2800" b="1" i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Proyecto de Arquitectura del Computador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8"/>
          <p:cNvPicPr/>
          <p:nvPr/>
        </p:nvPicPr>
        <p:blipFill>
          <a:blip r:embed="rId1"/>
          <a:stretch/>
        </p:blipFill>
        <p:spPr>
          <a:xfrm>
            <a:off x="10125000" y="340920"/>
            <a:ext cx="1295640" cy="172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CuadroTexto 9"/>
          <p:cNvSpPr/>
          <p:nvPr/>
        </p:nvSpPr>
        <p:spPr>
          <a:xfrm>
            <a:off x="363240" y="5231520"/>
            <a:ext cx="19602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Autores:</a:t>
            </a:r>
            <a:br>
              <a:rPr sz="1800"/>
            </a:b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Daniel Rodulfo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Victor Pinto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CuadroTexto 11"/>
          <p:cNvSpPr/>
          <p:nvPr/>
        </p:nvSpPr>
        <p:spPr>
          <a:xfrm>
            <a:off x="9857520" y="5370120"/>
            <a:ext cx="19602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Profesor:</a:t>
            </a:r>
            <a:br>
              <a:rPr sz="1800"/>
            </a:b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José Canache 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áfico 12" descr="Facultad Experimental de Ciencias y Tecnología (UC) - Wikipedia, la  enciclopedia libr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89600" y="369360"/>
            <a:ext cx="1833840" cy="183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adroTexto 4"/>
          <p:cNvSpPr/>
          <p:nvPr/>
        </p:nvSpPr>
        <p:spPr>
          <a:xfrm>
            <a:off x="3049200" y="72756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Secciones de la presentación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CuadroTexto 5"/>
          <p:cNvSpPr/>
          <p:nvPr/>
        </p:nvSpPr>
        <p:spPr>
          <a:xfrm>
            <a:off x="2972880" y="194832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Contexto del proyecto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Conector recto 6"/>
          <p:cNvCxnSpPr/>
          <p:nvPr/>
        </p:nvCxnSpPr>
        <p:spPr>
          <a:xfrm>
            <a:off x="0" y="1250640"/>
            <a:ext cx="8889480" cy="25200"/>
          </a:xfrm>
          <a:prstGeom prst="straightConnector1">
            <a:avLst/>
          </a:prstGeom>
          <a:ln cap="rnd">
            <a:solidFill>
              <a:srgbClr val="FFFFFF"/>
            </a:solidFill>
            <a:round/>
          </a:ln>
        </p:spPr>
      </p:cxnSp>
      <p:cxnSp>
        <p:nvCxnSpPr>
          <p:cNvPr id="114" name="Conector recto de flecha 11"/>
          <p:cNvCxnSpPr/>
          <p:nvPr/>
        </p:nvCxnSpPr>
        <p:spPr>
          <a:xfrm flipH="1">
            <a:off x="1476720" y="1250640"/>
            <a:ext cx="10080" cy="560772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15" name="Conector recto de flecha 15"/>
          <p:cNvCxnSpPr/>
          <p:nvPr/>
        </p:nvCxnSpPr>
        <p:spPr>
          <a:xfrm>
            <a:off x="1486440" y="2179080"/>
            <a:ext cx="132012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16" name="CuadroTexto 18"/>
          <p:cNvSpPr/>
          <p:nvPr/>
        </p:nvSpPr>
        <p:spPr>
          <a:xfrm>
            <a:off x="2972880" y="285192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2. Liberia STXXL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Conector recto de flecha 19"/>
          <p:cNvCxnSpPr/>
          <p:nvPr/>
        </p:nvCxnSpPr>
        <p:spPr>
          <a:xfrm>
            <a:off x="1486440" y="3082680"/>
            <a:ext cx="132012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18" name="Conector recto de flecha 20"/>
          <p:cNvCxnSpPr/>
          <p:nvPr/>
        </p:nvCxnSpPr>
        <p:spPr>
          <a:xfrm>
            <a:off x="1486440" y="4014360"/>
            <a:ext cx="132012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19" name="Conector recto de flecha 21"/>
          <p:cNvCxnSpPr/>
          <p:nvPr/>
        </p:nvCxnSpPr>
        <p:spPr>
          <a:xfrm>
            <a:off x="1476720" y="4871520"/>
            <a:ext cx="132012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20" name="Conector recto de flecha 22"/>
          <p:cNvCxnSpPr/>
          <p:nvPr/>
        </p:nvCxnSpPr>
        <p:spPr>
          <a:xfrm>
            <a:off x="1476720" y="5818320"/>
            <a:ext cx="132012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21" name="CuadroTexto 24"/>
          <p:cNvSpPr/>
          <p:nvPr/>
        </p:nvSpPr>
        <p:spPr>
          <a:xfrm>
            <a:off x="2972880" y="375552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3. Problema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CuadroTexto 26"/>
          <p:cNvSpPr/>
          <p:nvPr/>
        </p:nvSpPr>
        <p:spPr>
          <a:xfrm>
            <a:off x="2972880" y="4640760"/>
            <a:ext cx="43466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4. Técnicas computacionales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CuadroTexto 28"/>
          <p:cNvSpPr/>
          <p:nvPr/>
        </p:nvSpPr>
        <p:spPr>
          <a:xfrm>
            <a:off x="2972880" y="5587560"/>
            <a:ext cx="43466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5. Comparación y discusión de resultados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adroTexto 2"/>
          <p:cNvSpPr/>
          <p:nvPr/>
        </p:nvSpPr>
        <p:spPr>
          <a:xfrm>
            <a:off x="3049200" y="33372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Cont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exto 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del 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proy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ecto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CuadroTexto 3"/>
          <p:cNvSpPr/>
          <p:nvPr/>
        </p:nvSpPr>
        <p:spPr>
          <a:xfrm>
            <a:off x="173520" y="704880"/>
            <a:ext cx="350748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Simulación de una cache asociativa por vías de 2, 4 u 8 vías.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CuadroTexto 5"/>
          <p:cNvSpPr/>
          <p:nvPr/>
        </p:nvSpPr>
        <p:spPr>
          <a:xfrm>
            <a:off x="9427680" y="1072440"/>
            <a:ext cx="350748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Memoria externa: memoria de disco “infinita” con la librería STXXL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CuadroTexto 7"/>
          <p:cNvSpPr/>
          <p:nvPr/>
        </p:nvSpPr>
        <p:spPr>
          <a:xfrm>
            <a:off x="201240" y="5495400"/>
            <a:ext cx="35074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Lenguaje C++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Cubo 10"/>
          <p:cNvSpPr/>
          <p:nvPr/>
        </p:nvSpPr>
        <p:spPr>
          <a:xfrm>
            <a:off x="571680" y="2477160"/>
            <a:ext cx="1213920" cy="1120320"/>
          </a:xfrm>
          <a:prstGeom prst="cube">
            <a:avLst>
              <a:gd name="adj" fmla="val 25000"/>
            </a:avLst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29" name="Cilindro 11"/>
          <p:cNvSpPr/>
          <p:nvPr/>
        </p:nvSpPr>
        <p:spPr>
          <a:xfrm>
            <a:off x="9796680" y="2395800"/>
            <a:ext cx="1828440" cy="2641320"/>
          </a:xfrm>
          <a:prstGeom prst="can">
            <a:avLst>
              <a:gd name="adj" fmla="val 25000"/>
            </a:avLst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130" name="Imagen 14"/>
          <p:cNvPicPr/>
          <p:nvPr/>
        </p:nvPicPr>
        <p:blipFill>
          <a:blip r:embed="rId1"/>
          <a:stretch/>
        </p:blipFill>
        <p:spPr>
          <a:xfrm>
            <a:off x="2311200" y="5126040"/>
            <a:ext cx="1162080" cy="1310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1" name="Conector recto 15"/>
          <p:cNvCxnSpPr/>
          <p:nvPr/>
        </p:nvCxnSpPr>
        <p:spPr>
          <a:xfrm>
            <a:off x="7060320" y="903960"/>
            <a:ext cx="513180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</a:ln>
        </p:spPr>
      </p:cxnSp>
      <p:cxnSp>
        <p:nvCxnSpPr>
          <p:cNvPr id="132" name="Conector recto 17"/>
          <p:cNvCxnSpPr/>
          <p:nvPr/>
        </p:nvCxnSpPr>
        <p:spPr>
          <a:xfrm>
            <a:off x="-254160" y="1733760"/>
            <a:ext cx="513144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</a:ln>
        </p:spPr>
      </p:cxnSp>
      <p:cxnSp>
        <p:nvCxnSpPr>
          <p:cNvPr id="133" name="Conector recto 18"/>
          <p:cNvCxnSpPr/>
          <p:nvPr/>
        </p:nvCxnSpPr>
        <p:spPr>
          <a:xfrm>
            <a:off x="-65880" y="6613920"/>
            <a:ext cx="5131440" cy="360"/>
          </a:xfrm>
          <a:prstGeom prst="straightConnector1">
            <a:avLst/>
          </a:prstGeom>
          <a:ln cap="rnd">
            <a:solidFill>
              <a:srgbClr val="FFFFFF"/>
            </a:solidFill>
            <a:round/>
          </a:ln>
        </p:spPr>
      </p:cxnSp>
      <p:sp>
        <p:nvSpPr>
          <p:cNvPr id="134" name="CuadroTexto 19"/>
          <p:cNvSpPr/>
          <p:nvPr/>
        </p:nvSpPr>
        <p:spPr>
          <a:xfrm>
            <a:off x="9052200" y="3531960"/>
            <a:ext cx="1033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Disco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CuadroTexto 21"/>
          <p:cNvSpPr/>
          <p:nvPr/>
        </p:nvSpPr>
        <p:spPr>
          <a:xfrm>
            <a:off x="661320" y="3804840"/>
            <a:ext cx="1033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Cache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" name="Tabla 24"/>
          <p:cNvGraphicFramePr/>
          <p:nvPr/>
        </p:nvGraphicFramePr>
        <p:xfrm>
          <a:off x="2488320" y="2764440"/>
          <a:ext cx="4524480" cy="1483200"/>
        </p:xfrm>
        <a:graphic>
          <a:graphicData uri="http://schemas.openxmlformats.org/drawingml/2006/table">
            <a:tbl>
              <a:tblPr/>
              <a:tblGrid>
                <a:gridCol w="1131120"/>
                <a:gridCol w="1131120"/>
                <a:gridCol w="1206720"/>
                <a:gridCol w="1055520"/>
              </a:tblGrid>
              <a:tr h="370800">
                <a:tc>
                  <a:txBody>
                    <a:bodyPr anchor="t">
                      <a:noAutofit/>
                    </a:bodyPr>
                    <a:p>
                      <a:endParaRPr lang="es-VE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V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Tag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V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Tag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V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Dato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s-VE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entury Gothic"/>
                        </a:rPr>
                        <a:t>Dato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7" name="CuadroTexto 26"/>
          <p:cNvSpPr/>
          <p:nvPr/>
        </p:nvSpPr>
        <p:spPr>
          <a:xfrm>
            <a:off x="5578920" y="4756680"/>
            <a:ext cx="1033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2 vías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CuadroTexto 28"/>
          <p:cNvSpPr/>
          <p:nvPr/>
        </p:nvSpPr>
        <p:spPr>
          <a:xfrm>
            <a:off x="2838600" y="1918800"/>
            <a:ext cx="1685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2 Conjuntos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ector recto de flecha 31"/>
          <p:cNvCxnSpPr/>
          <p:nvPr/>
        </p:nvCxnSpPr>
        <p:spPr>
          <a:xfrm>
            <a:off x="4524120" y="2138760"/>
            <a:ext cx="1202400" cy="38916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40" name="Conector recto de flecha 34"/>
          <p:cNvCxnSpPr/>
          <p:nvPr/>
        </p:nvCxnSpPr>
        <p:spPr>
          <a:xfrm flipV="1">
            <a:off x="5343120" y="4391640"/>
            <a:ext cx="360" cy="55008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41" name="Conector recto de flecha 36"/>
          <p:cNvCxnSpPr/>
          <p:nvPr/>
        </p:nvCxnSpPr>
        <p:spPr>
          <a:xfrm flipV="1">
            <a:off x="6612840" y="4391640"/>
            <a:ext cx="360" cy="55008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42" name="Conector recto de flecha 37"/>
          <p:cNvCxnSpPr/>
          <p:nvPr/>
        </p:nvCxnSpPr>
        <p:spPr>
          <a:xfrm flipH="1">
            <a:off x="9085680" y="4941360"/>
            <a:ext cx="591120" cy="61632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143" name="Conector recto de flecha 39"/>
          <p:cNvCxnSpPr/>
          <p:nvPr/>
        </p:nvCxnSpPr>
        <p:spPr>
          <a:xfrm flipV="1">
            <a:off x="9809640" y="5079600"/>
            <a:ext cx="311760" cy="87444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sp>
        <p:nvSpPr>
          <p:cNvPr id="144" name="Cubo 44"/>
          <p:cNvSpPr/>
          <p:nvPr/>
        </p:nvSpPr>
        <p:spPr>
          <a:xfrm>
            <a:off x="7008840" y="5895360"/>
            <a:ext cx="2133360" cy="678240"/>
          </a:xfrm>
          <a:prstGeom prst="cube">
            <a:avLst>
              <a:gd name="adj" fmla="val 25000"/>
            </a:avLst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45" name="CuadroTexto 46"/>
          <p:cNvSpPr/>
          <p:nvPr/>
        </p:nvSpPr>
        <p:spPr>
          <a:xfrm>
            <a:off x="7683840" y="5478840"/>
            <a:ext cx="1033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RAM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CuadroTexto 48"/>
          <p:cNvSpPr/>
          <p:nvPr/>
        </p:nvSpPr>
        <p:spPr>
          <a:xfrm>
            <a:off x="10289880" y="5331960"/>
            <a:ext cx="17006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Operaciones I/O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adroTexto 2"/>
          <p:cNvSpPr/>
          <p:nvPr/>
        </p:nvSpPr>
        <p:spPr>
          <a:xfrm>
            <a:off x="3049200" y="33372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Librería principal: STXXL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ector recto 3"/>
          <p:cNvCxnSpPr/>
          <p:nvPr/>
        </p:nvCxnSpPr>
        <p:spPr>
          <a:xfrm>
            <a:off x="1651320" y="831960"/>
            <a:ext cx="8889480" cy="25200"/>
          </a:xfrm>
          <a:prstGeom prst="straightConnector1">
            <a:avLst/>
          </a:prstGeom>
          <a:ln cap="rnd">
            <a:solidFill>
              <a:srgbClr val="FFFFFF"/>
            </a:solidFill>
            <a:round/>
          </a:ln>
        </p:spPr>
      </p:cxnSp>
      <p:sp>
        <p:nvSpPr>
          <p:cNvPr id="149" name="Cilindro 5"/>
          <p:cNvSpPr/>
          <p:nvPr/>
        </p:nvSpPr>
        <p:spPr>
          <a:xfrm>
            <a:off x="5181480" y="1661400"/>
            <a:ext cx="1828440" cy="2641320"/>
          </a:xfrm>
          <a:prstGeom prst="can">
            <a:avLst>
              <a:gd name="adj" fmla="val 25000"/>
            </a:avLst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0" name="CuadroTexto 7"/>
          <p:cNvSpPr/>
          <p:nvPr/>
        </p:nvSpPr>
        <p:spPr>
          <a:xfrm>
            <a:off x="5709240" y="4461480"/>
            <a:ext cx="1033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Disco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CuadroTexto 9"/>
          <p:cNvSpPr/>
          <p:nvPr/>
        </p:nvSpPr>
        <p:spPr>
          <a:xfrm>
            <a:off x="263520" y="1160280"/>
            <a:ext cx="2539080" cy="16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Procesamiento y almacenamiento de grandes volúmenes de datos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CuadroTexto 11"/>
          <p:cNvSpPr/>
          <p:nvPr/>
        </p:nvSpPr>
        <p:spPr>
          <a:xfrm>
            <a:off x="4985640" y="1170720"/>
            <a:ext cx="22201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Memoria externa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CuadroTexto 13"/>
          <p:cNvSpPr/>
          <p:nvPr/>
        </p:nvSpPr>
        <p:spPr>
          <a:xfrm>
            <a:off x="1366560" y="5317920"/>
            <a:ext cx="253908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Contenedores de C++ expandidos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CuadroTexto 15"/>
          <p:cNvSpPr/>
          <p:nvPr/>
        </p:nvSpPr>
        <p:spPr>
          <a:xfrm>
            <a:off x="8220960" y="1001520"/>
            <a:ext cx="34610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Operaciones de I/O optimizadas y concurrentes. Algoritmos especializados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ángulo 16"/>
          <p:cNvSpPr/>
          <p:nvPr/>
        </p:nvSpPr>
        <p:spPr>
          <a:xfrm>
            <a:off x="4660920" y="5390280"/>
            <a:ext cx="69516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1001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ángulo 18"/>
          <p:cNvSpPr/>
          <p:nvPr/>
        </p:nvSpPr>
        <p:spPr>
          <a:xfrm>
            <a:off x="5310720" y="5390280"/>
            <a:ext cx="69516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1002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ángulo 20"/>
          <p:cNvSpPr/>
          <p:nvPr/>
        </p:nvSpPr>
        <p:spPr>
          <a:xfrm>
            <a:off x="5960160" y="5393160"/>
            <a:ext cx="69516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1003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ángulo 22"/>
          <p:cNvSpPr/>
          <p:nvPr/>
        </p:nvSpPr>
        <p:spPr>
          <a:xfrm>
            <a:off x="6609600" y="5390280"/>
            <a:ext cx="80028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1004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uadroTexto 24"/>
          <p:cNvSpPr/>
          <p:nvPr/>
        </p:nvSpPr>
        <p:spPr>
          <a:xfrm>
            <a:off x="7588800" y="5487480"/>
            <a:ext cx="2539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...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ángulo 26"/>
          <p:cNvSpPr/>
          <p:nvPr/>
        </p:nvSpPr>
        <p:spPr>
          <a:xfrm>
            <a:off x="8220960" y="5390280"/>
            <a:ext cx="64908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s-VE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ángulo 28"/>
          <p:cNvSpPr/>
          <p:nvPr/>
        </p:nvSpPr>
        <p:spPr>
          <a:xfrm>
            <a:off x="8875080" y="5390280"/>
            <a:ext cx="64908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pic>
        <p:nvPicPr>
          <p:cNvPr id="162" name="Imagen 32"/>
          <p:cNvPicPr/>
          <p:nvPr/>
        </p:nvPicPr>
        <p:blipFill>
          <a:blip r:embed="rId1"/>
          <a:stretch/>
        </p:blipFill>
        <p:spPr>
          <a:xfrm>
            <a:off x="8934120" y="2017080"/>
            <a:ext cx="2956680" cy="29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Imagen 38"/>
          <p:cNvPicPr/>
          <p:nvPr/>
        </p:nvPicPr>
        <p:blipFill>
          <a:blip r:embed="rId2"/>
          <a:stretch/>
        </p:blipFill>
        <p:spPr>
          <a:xfrm>
            <a:off x="1123200" y="2530440"/>
            <a:ext cx="2641320" cy="264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adroTexto 1"/>
          <p:cNvSpPr/>
          <p:nvPr/>
        </p:nvSpPr>
        <p:spPr>
          <a:xfrm>
            <a:off x="3049200" y="33372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Librería principal: STXXL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65" name="Conector recto 2"/>
          <p:cNvCxnSpPr/>
          <p:nvPr/>
        </p:nvCxnSpPr>
        <p:spPr>
          <a:xfrm>
            <a:off x="1651320" y="831960"/>
            <a:ext cx="8889480" cy="25200"/>
          </a:xfrm>
          <a:prstGeom prst="straightConnector1">
            <a:avLst/>
          </a:prstGeom>
          <a:ln cap="rnd">
            <a:solidFill>
              <a:srgbClr val="FFFFFF"/>
            </a:solidFill>
            <a:round/>
          </a:ln>
        </p:spPr>
      </p:cxnSp>
      <p:pic>
        <p:nvPicPr>
          <p:cNvPr id="166" name="Imagen 3"/>
          <p:cNvPicPr/>
          <p:nvPr/>
        </p:nvPicPr>
        <p:blipFill>
          <a:blip r:embed="rId1"/>
          <a:stretch/>
        </p:blipFill>
        <p:spPr>
          <a:xfrm>
            <a:off x="2814120" y="1291680"/>
            <a:ext cx="6563160" cy="473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CuadroTexto 5"/>
          <p:cNvSpPr/>
          <p:nvPr/>
        </p:nvSpPr>
        <p:spPr>
          <a:xfrm>
            <a:off x="9631800" y="1291680"/>
            <a:ext cx="22201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Bloques de memoria: Tamaño, tipo.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CuadroTexto 7"/>
          <p:cNvSpPr/>
          <p:nvPr/>
        </p:nvSpPr>
        <p:spPr>
          <a:xfrm>
            <a:off x="-289800" y="4360680"/>
            <a:ext cx="22201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69" name="CuadroTexto 9"/>
          <p:cNvSpPr/>
          <p:nvPr/>
        </p:nvSpPr>
        <p:spPr>
          <a:xfrm>
            <a:off x="9604440" y="5364360"/>
            <a:ext cx="22201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Los bloques son usados por la Cache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CuadroTexto 11"/>
          <p:cNvSpPr/>
          <p:nvPr/>
        </p:nvSpPr>
        <p:spPr>
          <a:xfrm>
            <a:off x="212400" y="1245240"/>
            <a:ext cx="22201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Contenedores de C++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CuadroTexto 13"/>
          <p:cNvSpPr/>
          <p:nvPr/>
        </p:nvSpPr>
        <p:spPr>
          <a:xfrm>
            <a:off x="339840" y="5671800"/>
            <a:ext cx="22201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Operaciones asíncronas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n 14" descr="Multithreading (computer architecture) - Wikipedia"/>
          <p:cNvPicPr/>
          <p:nvPr/>
        </p:nvPicPr>
        <p:blipFill>
          <a:blip r:embed="rId2"/>
          <a:stretch/>
        </p:blipFill>
        <p:spPr>
          <a:xfrm>
            <a:off x="339840" y="3814920"/>
            <a:ext cx="1965600" cy="185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ángulo 18"/>
          <p:cNvSpPr/>
          <p:nvPr/>
        </p:nvSpPr>
        <p:spPr>
          <a:xfrm>
            <a:off x="10215720" y="2445120"/>
            <a:ext cx="649080" cy="593640"/>
          </a:xfrm>
          <a:prstGeom prst="rect">
            <a:avLst/>
          </a:prstGeom>
          <a:solidFill>
            <a:schemeClr val="tx1">
              <a:lumMod val="85000"/>
            </a:schemeClr>
          </a:solidFill>
          <a:ln cap="rnd">
            <a:solidFill>
              <a:srgbClr val="0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cxnSp>
        <p:nvCxnSpPr>
          <p:cNvPr id="174" name="Conector recto de flecha 19"/>
          <p:cNvCxnSpPr/>
          <p:nvPr/>
        </p:nvCxnSpPr>
        <p:spPr>
          <a:xfrm>
            <a:off x="10540440" y="3178440"/>
            <a:ext cx="360" cy="960480"/>
          </a:xfrm>
          <a:prstGeom prst="straightConnector1">
            <a:avLst/>
          </a:prstGeom>
          <a:ln cap="rnd">
            <a:solidFill>
              <a:srgbClr val="FFFFFF"/>
            </a:solidFill>
            <a:round/>
            <a:tailEnd len="med" type="triangle" w="med"/>
          </a:ln>
        </p:spPr>
      </p:cxnSp>
      <p:graphicFrame>
        <p:nvGraphicFramePr>
          <p:cNvPr id="175" name="Tabla 24"/>
          <p:cNvGraphicFramePr/>
          <p:nvPr/>
        </p:nvGraphicFramePr>
        <p:xfrm>
          <a:off x="9679320" y="4484160"/>
          <a:ext cx="1722240" cy="741600"/>
        </p:xfrm>
        <a:graphic>
          <a:graphicData uri="http://schemas.openxmlformats.org/drawingml/2006/table">
            <a:tbl>
              <a:tblPr/>
              <a:tblGrid>
                <a:gridCol w="861120"/>
                <a:gridCol w="861120"/>
              </a:tblGrid>
              <a:tr h="370800">
                <a:tc>
                  <a:txBody>
                    <a:bodyPr anchor="t">
                      <a:noAutofit/>
                    </a:bodyPr>
                    <a:p>
                      <a:endParaRPr lang="es-VE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s-VE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entury Gothic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adroTexto 2"/>
          <p:cNvSpPr/>
          <p:nvPr/>
        </p:nvSpPr>
        <p:spPr>
          <a:xfrm>
            <a:off x="3049200" y="32328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Problema planteado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n 6"/>
          <p:cNvPicPr/>
          <p:nvPr/>
        </p:nvPicPr>
        <p:blipFill>
          <a:blip r:embed="rId1"/>
          <a:srcRect l="0" t="0" r="0" b="17182"/>
          <a:stretch/>
        </p:blipFill>
        <p:spPr>
          <a:xfrm>
            <a:off x="240840" y="1180080"/>
            <a:ext cx="4762080" cy="394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CuadroTexto 8"/>
          <p:cNvSpPr/>
          <p:nvPr/>
        </p:nvSpPr>
        <p:spPr>
          <a:xfrm>
            <a:off x="5929920" y="1195560"/>
            <a:ext cx="609300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Simular una cache asociativa por vías con: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CuadroTexto 10"/>
          <p:cNvSpPr/>
          <p:nvPr/>
        </p:nvSpPr>
        <p:spPr>
          <a:xfrm>
            <a:off x="6969240" y="229320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Deteccion de Miss y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Hit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CuadroTexto 12"/>
          <p:cNvSpPr/>
          <p:nvPr/>
        </p:nvSpPr>
        <p:spPr>
          <a:xfrm>
            <a:off x="6969240" y="3198240"/>
            <a:ext cx="43466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Politica de reemplazo (LRU)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CuadroTexto 14"/>
          <p:cNvSpPr/>
          <p:nvPr/>
        </p:nvSpPr>
        <p:spPr>
          <a:xfrm>
            <a:off x="6969240" y="4293000"/>
            <a:ext cx="43466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Anti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cipa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cion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de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car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ga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de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blo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que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(Pre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fetc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hin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g)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CuadroTexto 16"/>
          <p:cNvSpPr/>
          <p:nvPr/>
        </p:nvSpPr>
        <p:spPr>
          <a:xfrm>
            <a:off x="6969240" y="5401080"/>
            <a:ext cx="43466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Lectura paralela de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etiquetas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CuadroTexto 18"/>
          <p:cNvSpPr/>
          <p:nvPr/>
        </p:nvSpPr>
        <p:spPr>
          <a:xfrm>
            <a:off x="2621880" y="5387760"/>
            <a:ext cx="43466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Uso correcto del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disco provisto por </a:t>
            </a: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STXXL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adroTexto 2"/>
          <p:cNvSpPr/>
          <p:nvPr/>
        </p:nvSpPr>
        <p:spPr>
          <a:xfrm>
            <a:off x="3049200" y="32328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Técnicas Computacionales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CuadroTexto 6"/>
          <p:cNvSpPr/>
          <p:nvPr/>
        </p:nvSpPr>
        <p:spPr>
          <a:xfrm>
            <a:off x="3049200" y="119520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Estructuras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CuadroTexto 10"/>
          <p:cNvSpPr/>
          <p:nvPr/>
        </p:nvSpPr>
        <p:spPr>
          <a:xfrm>
            <a:off x="294840" y="2349000"/>
            <a:ext cx="70938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2000" b="0" u="none" strike="noStrike">
                <a:solidFill>
                  <a:srgbClr val="C586C0"/>
                </a:solidFill>
                <a:effectLst/>
                <a:uFillTx/>
                <a:latin typeface="Consolas"/>
              </a:rPr>
              <a:t>#define</a:t>
            </a:r>
            <a:r>
              <a:rPr lang="es-VE" sz="20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 block_size (1024 * 64)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CuadroTexto 12"/>
          <p:cNvSpPr/>
          <p:nvPr/>
        </p:nvSpPr>
        <p:spPr>
          <a:xfrm>
            <a:off x="294840" y="3220920"/>
            <a:ext cx="6477840" cy="17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586C0"/>
                </a:solidFill>
                <a:effectLst/>
                <a:uFillTx/>
                <a:latin typeface="Consolas"/>
              </a:rPr>
              <a:t>#define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 Num_vias </a:t>
            </a:r>
            <a:r>
              <a:rPr lang="es-VE" sz="16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16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586C0"/>
                </a:solidFill>
                <a:effectLst/>
                <a:uFillTx/>
                <a:latin typeface="Consolas"/>
              </a:rPr>
              <a:t>#define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 Num_block </a:t>
            </a:r>
            <a:r>
              <a:rPr lang="es-VE" sz="16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100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typedef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stxxl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::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typed_block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&lt;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block_size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double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&gt;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block_type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     //Definiciones de bloque 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typedef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direccion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typedef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std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::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vector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&lt;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block_type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::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bid_type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&gt;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Bids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CuadroTexto 16"/>
          <p:cNvSpPr/>
          <p:nvPr/>
        </p:nvSpPr>
        <p:spPr>
          <a:xfrm>
            <a:off x="6147000" y="1986840"/>
            <a:ext cx="6093000" cy="44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class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via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{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                    //Definicion del 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objeto via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public: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   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bool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validez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=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false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   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=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0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   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last_uso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=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0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   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block_type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*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dato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=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nullptr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  <a:ea typeface="Noto Sans CJK SC"/>
              </a:rPr>
              <a:t>   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  <a:ea typeface="Noto Sans CJK SC"/>
              </a:rPr>
              <a:t>Stxxl::request_ptr lectura;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};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br>
              <a:rPr sz="1600"/>
            </a:b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typedef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std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::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vector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&lt;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via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&gt;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    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//Conjuntos que contienen vias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typedef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std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::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vector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&lt;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6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&gt;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tipo_cache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;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  </a:t>
            </a:r>
            <a:r>
              <a:rPr lang="es-VE" sz="16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       </a:t>
            </a:r>
            <a:r>
              <a:rPr lang="es-VE" sz="10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//Cache 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adroTexto 2"/>
          <p:cNvSpPr/>
          <p:nvPr/>
        </p:nvSpPr>
        <p:spPr>
          <a:xfrm>
            <a:off x="3049200" y="32328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Técnicas 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Computacio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nales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CuadroTexto 4"/>
          <p:cNvSpPr/>
          <p:nvPr/>
        </p:nvSpPr>
        <p:spPr>
          <a:xfrm>
            <a:off x="3049200" y="84672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Funciones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CuadroTexto 12"/>
          <p:cNvSpPr/>
          <p:nvPr/>
        </p:nvSpPr>
        <p:spPr>
          <a:xfrm>
            <a:off x="3049200" y="1298880"/>
            <a:ext cx="6093000" cy="349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//Funciones para efectuar la simulacion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simulacion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vias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Bids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bids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bool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coincide_etiqueta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via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etiqueta_buscada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bool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preguntar_continuar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pedir_vias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cargar_bloque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via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block_type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::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bid_type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bid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esperar_lecturas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Lecturas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pendientes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CuadroTexto 16"/>
          <p:cNvSpPr/>
          <p:nvPr/>
        </p:nvSpPr>
        <p:spPr>
          <a:xfrm>
            <a:off x="3049200" y="4609800"/>
            <a:ext cx="60930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potencia_2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exponente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CuadroTexto 18"/>
          <p:cNvSpPr/>
          <p:nvPr/>
        </p:nvSpPr>
        <p:spPr>
          <a:xfrm>
            <a:off x="3049200" y="5070960"/>
            <a:ext cx="6093000" cy="6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Calcular_direccion_bloque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peticion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CuadroTexto 20"/>
          <p:cNvSpPr/>
          <p:nvPr/>
        </p:nvSpPr>
        <p:spPr>
          <a:xfrm>
            <a:off x="3049200" y="5810040"/>
            <a:ext cx="609300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etiqueta_indice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direccion_bloque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Num_conjuntos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*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*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indice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CuadroTexto 2"/>
          <p:cNvSpPr/>
          <p:nvPr/>
        </p:nvSpPr>
        <p:spPr>
          <a:xfrm>
            <a:off x="3049200" y="32328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Técni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cas 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Com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putac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ional</a:t>
            </a: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es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CuadroTexto 4"/>
          <p:cNvSpPr/>
          <p:nvPr/>
        </p:nvSpPr>
        <p:spPr>
          <a:xfrm>
            <a:off x="3049200" y="119520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Funciones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CuadroTexto 8"/>
          <p:cNvSpPr/>
          <p:nvPr/>
        </p:nvSpPr>
        <p:spPr>
          <a:xfrm>
            <a:off x="3049200" y="2609640"/>
            <a:ext cx="6093000" cy="16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bool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coincide_etiqueta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via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etiqueta_buscada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buscar_en_conjunto_paralelo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etiqueta_buscada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adroTexto 2"/>
          <p:cNvSpPr/>
          <p:nvPr/>
        </p:nvSpPr>
        <p:spPr>
          <a:xfrm>
            <a:off x="3049200" y="32328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Técnicas Computacionales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CuadroTexto 4"/>
          <p:cNvSpPr/>
          <p:nvPr/>
        </p:nvSpPr>
        <p:spPr>
          <a:xfrm>
            <a:off x="3049200" y="119520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Funciones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CuadroTexto 6"/>
          <p:cNvSpPr/>
          <p:nvPr/>
        </p:nvSpPr>
        <p:spPr>
          <a:xfrm>
            <a:off x="153720" y="4658400"/>
            <a:ext cx="609300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imprimir_cache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tipo_cache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liberar_cache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tipo_cache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inicializar_cache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tipo_cache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num_conjuntos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num_vias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CuadroTexto 11"/>
          <p:cNvSpPr/>
          <p:nvPr/>
        </p:nvSpPr>
        <p:spPr>
          <a:xfrm>
            <a:off x="6098400" y="1925280"/>
            <a:ext cx="6093000" cy="22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encontrar_via_lru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       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actualizar_lru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via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reloj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bool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acceder_cache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etiqueta_buscada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   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reloj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int&amp;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via_usada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adroTexto 2"/>
          <p:cNvSpPr/>
          <p:nvPr/>
        </p:nvSpPr>
        <p:spPr>
          <a:xfrm>
            <a:off x="3049200" y="32328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Técnicas Computacionales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CuadroTexto 4"/>
          <p:cNvSpPr/>
          <p:nvPr/>
        </p:nvSpPr>
        <p:spPr>
          <a:xfrm>
            <a:off x="3049200" y="110520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Algoritmos utilizados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CuadroTexto 8"/>
          <p:cNvSpPr/>
          <p:nvPr/>
        </p:nvSpPr>
        <p:spPr>
          <a:xfrm>
            <a:off x="1172880" y="2197800"/>
            <a:ext cx="6093000" cy="6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buscar_en_conjunto_paralelo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unsigned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long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etiqueta_buscada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 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CuadroTexto 10"/>
          <p:cNvSpPr/>
          <p:nvPr/>
        </p:nvSpPr>
        <p:spPr>
          <a:xfrm>
            <a:off x="1172880" y="3398760"/>
            <a:ext cx="60930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encontrar_via_lru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const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tipo_conjunto</a:t>
            </a:r>
            <a:r>
              <a:rPr lang="es-VE" sz="16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6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</a:t>
            </a:r>
            <a:r>
              <a:rPr lang="es-VE" sz="16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 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CuadroTexto 12"/>
          <p:cNvSpPr/>
          <p:nvPr/>
        </p:nvSpPr>
        <p:spPr>
          <a:xfrm>
            <a:off x="1172880" y="4394520"/>
            <a:ext cx="6093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3000"/>
              </a:lnSpc>
            </a:pP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void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DCDCAA"/>
                </a:solidFill>
                <a:effectLst/>
                <a:uFillTx/>
                <a:latin typeface="Consolas"/>
              </a:rPr>
              <a:t>simulacion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(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vias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int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conjuntos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, </a:t>
            </a:r>
            <a:r>
              <a:rPr lang="es-VE" sz="1800" b="0" u="none" strike="noStrike">
                <a:solidFill>
                  <a:srgbClr val="4EC9B0"/>
                </a:solidFill>
                <a:effectLst/>
                <a:uFillTx/>
                <a:latin typeface="Consolas"/>
              </a:rPr>
              <a:t>Bids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 </a:t>
            </a:r>
            <a:r>
              <a:rPr lang="es-VE" sz="18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&amp;</a:t>
            </a:r>
            <a:r>
              <a:rPr lang="es-VE" sz="1800" b="0" u="none" strike="noStrike">
                <a:solidFill>
                  <a:srgbClr val="9CDCFE"/>
                </a:solidFill>
                <a:effectLst/>
                <a:uFillTx/>
                <a:latin typeface="Consolas"/>
              </a:rPr>
              <a:t>bids</a:t>
            </a:r>
            <a:r>
              <a:rPr lang="es-VE" sz="1800" b="0" u="none" strike="noStrike">
                <a:solidFill>
                  <a:srgbClr val="CCCCCC"/>
                </a:solidFill>
                <a:effectLst/>
                <a:uFillTx/>
                <a:latin typeface="Consolas"/>
              </a:rPr>
              <a:t>);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adroTexto 2"/>
          <p:cNvSpPr/>
          <p:nvPr/>
        </p:nvSpPr>
        <p:spPr>
          <a:xfrm>
            <a:off x="3049200" y="290592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Curso del programa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adroTexto 2"/>
          <p:cNvSpPr/>
          <p:nvPr/>
        </p:nvSpPr>
        <p:spPr>
          <a:xfrm>
            <a:off x="-1281600" y="27396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Resultados 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CuadroTexto 4"/>
          <p:cNvSpPr/>
          <p:nvPr/>
        </p:nvSpPr>
        <p:spPr>
          <a:xfrm>
            <a:off x="365400" y="2831760"/>
            <a:ext cx="212184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3 patrones de accesos de solicitudes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n 6"/>
          <p:cNvPicPr/>
          <p:nvPr/>
        </p:nvPicPr>
        <p:blipFill>
          <a:blip r:embed="rId1"/>
          <a:stretch/>
        </p:blipFill>
        <p:spPr>
          <a:xfrm>
            <a:off x="-36720" y="3534840"/>
            <a:ext cx="3511440" cy="351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Abrir llave 11"/>
          <p:cNvSpPr/>
          <p:nvPr/>
        </p:nvSpPr>
        <p:spPr>
          <a:xfrm>
            <a:off x="3103920" y="300960"/>
            <a:ext cx="907560" cy="6130800"/>
          </a:xfrm>
          <a:prstGeom prst="leftBrace">
            <a:avLst>
              <a:gd name="adj1" fmla="val 8333"/>
              <a:gd name="adj2" fmla="val 50000"/>
            </a:avLst>
          </a:prstGeom>
          <a:noFill/>
          <a:ln cap="rnd">
            <a:solidFill>
              <a:srgbClr val="FFFFFF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s-VE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12" name="CuadroTexto 13"/>
          <p:cNvSpPr/>
          <p:nvPr/>
        </p:nvSpPr>
        <p:spPr>
          <a:xfrm>
            <a:off x="4250160" y="11340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Acceso aleatorio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CuadroTexto 15"/>
          <p:cNvSpPr/>
          <p:nvPr/>
        </p:nvSpPr>
        <p:spPr>
          <a:xfrm>
            <a:off x="7693920" y="223560"/>
            <a:ext cx="378504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Comportamiento integro con 2,4 u 8 vias. 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Porcentaje de Miss: 15-16%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Porcentaje de Hits: 84-85%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CuadroTexto 17"/>
          <p:cNvSpPr/>
          <p:nvPr/>
        </p:nvSpPr>
        <p:spPr>
          <a:xfrm>
            <a:off x="4011840" y="474444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Acceso de coincidencia 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CuadroTexto 19"/>
          <p:cNvSpPr/>
          <p:nvPr/>
        </p:nvSpPr>
        <p:spPr>
          <a:xfrm>
            <a:off x="4074480" y="1803960"/>
            <a:ext cx="4346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s-VE" sz="24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Acceso de secuencial 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CuadroTexto 21"/>
          <p:cNvSpPr/>
          <p:nvPr/>
        </p:nvSpPr>
        <p:spPr>
          <a:xfrm>
            <a:off x="4195800" y="2265840"/>
            <a:ext cx="378504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Avance de peticiones de 4kb. Eliminacion de Prefetching tiene efecto considerable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Porcentaje de Miss: 3.2%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Porcentaje de Hits: 96.8%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CuadroTexto 23"/>
          <p:cNvSpPr/>
          <p:nvPr/>
        </p:nvSpPr>
        <p:spPr>
          <a:xfrm>
            <a:off x="8649000" y="2117160"/>
            <a:ext cx="193320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Sin Prefetching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Porcentaje de Miss: 6.3%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Porcentaje de Hits: 93.7%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CuadroTexto 25"/>
          <p:cNvSpPr/>
          <p:nvPr/>
        </p:nvSpPr>
        <p:spPr>
          <a:xfrm>
            <a:off x="4011840" y="5311080"/>
            <a:ext cx="464256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Se fuerza una secuencia de bloques cíclica cuyas direcciones corresponden  aun factor 8 (0,8,16)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CuadroTexto 27"/>
          <p:cNvSpPr/>
          <p:nvPr/>
        </p:nvSpPr>
        <p:spPr>
          <a:xfrm>
            <a:off x="8895960" y="4695480"/>
            <a:ext cx="1933200" cy="19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s-VE" sz="20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2 y 4 Vias muestran tasas de Hits de 0%. 8 Vias alcanza el 99.4%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adroTexto 2"/>
          <p:cNvSpPr/>
          <p:nvPr/>
        </p:nvSpPr>
        <p:spPr>
          <a:xfrm>
            <a:off x="3049200" y="2905920"/>
            <a:ext cx="60930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s-VE" sz="2800" b="1" i="1" u="none" strike="noStrike">
                <a:ln>
                  <a:solidFill>
                    <a:schemeClr val="dk1"/>
                  </a:solidFill>
                </a:ln>
                <a:solidFill>
                  <a:srgbClr val="FFFFFF"/>
                </a:solidFill>
                <a:effectLst/>
                <a:uFillTx/>
                <a:latin typeface="Century Gothic"/>
              </a:rPr>
              <a:t>Gracias por ver</a:t>
            </a:r>
            <a:endParaRPr lang="es-E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Malla">
  <a:themeElements>
    <a:clrScheme name="Malla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alla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</TotalTime>
  <Application>LibreOffice/26.2.6.3$Linux_X86_64 LibreOffice_project/620$Build-3</Application>
  <AppVersion>15.0000</AppVersion>
  <Words>813</Words>
  <Paragraphs>119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2026-10-13T22:30:55Z</dcterms:created>
  <dc:creator>Windows</dc:creator>
  <dc:description/>
  <dc:language>es-ES</dc:language>
  <cp:lastModifiedBy/>
  <dcterms:modified xsi:type="dcterms:W3CDTF">2026-10-16T13:45:13Z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14</vt:i4>
  </property>
</Properties>
</file>